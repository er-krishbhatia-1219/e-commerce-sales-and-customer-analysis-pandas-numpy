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Krishbhatia624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rPr dirty="0"/>
              <a:t>DATA ANALYSIS /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680960" cy="2423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600" b="1">
                <a:solidFill>
                  <a:srgbClr val="FAFCFF"/>
                </a:solidFill>
                <a:latin typeface="Aptos"/>
              </a:defRPr>
            </a:pPr>
            <a:r>
              <a:t>E-COMMERCE</a:t>
            </a:r>
            <a:br/>
            <a:r>
              <a:t>SALES &amp; CUSTOMER</a:t>
            </a:r>
            <a:br/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69080"/>
            <a:ext cx="8046720" cy="33855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ACB8C6"/>
                </a:solidFill>
                <a:latin typeface="Aptos"/>
              </a:defRPr>
            </a:pPr>
            <a:r>
              <a:rPr dirty="0"/>
              <a:t>From raw transactions to business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17320"/>
            <a:ext cx="265176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1392" y="1581912"/>
            <a:ext cx="232257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t>₹17.71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2130552"/>
            <a:ext cx="232257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Net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880360"/>
            <a:ext cx="265176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51392" y="3044952"/>
            <a:ext cx="232257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₹7.61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3593591"/>
            <a:ext cx="232257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4343400"/>
            <a:ext cx="265176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51392" y="4507992"/>
            <a:ext cx="232257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7B342"/>
                </a:solidFill>
                <a:latin typeface="Aptos"/>
              </a:defRPr>
            </a:pPr>
            <a:r>
              <a:t>138,116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5056632"/>
            <a:ext cx="232257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Transactions /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01 /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The business is profitable — but margin leakage needs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Key statistics calculated directly from the notebook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47672"/>
            <a:ext cx="21854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43.0%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96312"/>
            <a:ext cx="21854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Overall profit / net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5146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947672"/>
            <a:ext cx="21854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t>₹1,282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496312"/>
            <a:ext cx="21854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Average net sales per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25146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947672"/>
            <a:ext cx="21854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7B342"/>
                </a:solidFill>
                <a:latin typeface="Aptos"/>
              </a:defRPr>
            </a:pPr>
            <a:r>
              <a:t>775,555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496312"/>
            <a:ext cx="21854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Total quantity sold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783080"/>
            <a:ext cx="25146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34272" y="1947672"/>
            <a:ext cx="21854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05C58"/>
                </a:solidFill>
                <a:latin typeface="Aptos"/>
              </a:defRPr>
            </a:pPr>
            <a:r>
              <a:t>0.94%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496312"/>
            <a:ext cx="21854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Rows with negative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South is the largest revenue region at ₹5.56 Cr (31.4% of total net sales).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Consumer is the dominant customer segment at ₹9.72 Cr (54.9% of total net sales).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The top 10 customers contribute ₹2.80 lakh in net sales and ₹1.18 lakh in profit.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1,296 rows are loss-making; the sample shows product cost exceeding net sales in several cases.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02 / QUESTIONS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What did the analysis actually investigate?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35964"/>
            <a:ext cx="521208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How large is the dataset?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How many columns and rows are present?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Where are missing values?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Are duplicate records present?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What are total revenue, profit and quantity sold?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What is the average net sales value?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420547"/>
            <a:ext cx="5212080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Which customers generate the most revenue?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How do regions compare on sales, profit and order volume?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What are the strongest monthly sales periods?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How do customer segments compare on sales and profit?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How many loss-making rows exist?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rPr dirty="0"/>
              <a:t>• How does discount percentage relate to individual profit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03 /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The dataset is large enough for meaningful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138,116 rows × 46 original columns; two derived time columns were added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rPr dirty="0"/>
              <a:t>138,116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4592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181051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5915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81051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5915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Missing in core financial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45920"/>
            <a:ext cx="22860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62872" y="1810512"/>
            <a:ext cx="19568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359152"/>
            <a:ext cx="19568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Duplicate flags shown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Core commercial measures — net_sales, product_cost, profit and profit_margin_percentage — have no missing values.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Operational/feedback fields contain missing values: delivery_days, estimated_delivery_days, customer_rating, review fields, campaign_name and coupon_code.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return_status and return_reason are populated only for a subset of records, which is expected for return-related fields.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The notebook converts order_date to datetime and derives year and month for time-based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04 / BUSINESS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The headline economics of the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1907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t>₹17.71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6771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Total net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71907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₹7.61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26771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71907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7B342"/>
                </a:solidFill>
                <a:latin typeface="Aptos"/>
              </a:defRPr>
            </a:pPr>
            <a:r>
              <a:t>₹10.10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26771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Sales minus 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554480"/>
            <a:ext cx="256032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4272" y="1719072"/>
            <a:ext cx="223113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43.0%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267712"/>
            <a:ext cx="223113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Aggregate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34BEDC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The dataset generates about ₹17.71 crore in net sales and ₹7.61 crore in profit.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Aggregate profit margin is 43.0% when total profit is divided by total net sales.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Average net sales per row is ₹1,282, while total quantity sold is 775,555 units.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These are portfolio-level KPIs; they should be interpreted alongside product cost, discounting and customer mix.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05 / 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South drives scale; North is smaller but relatively 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Regional margin = profit ÷ net sales.</a:t>
            </a:r>
          </a:p>
        </p:txBody>
      </p:sp>
      <p:pic>
        <p:nvPicPr>
          <p:cNvPr id="6" name="Picture 5" descr="region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075688"/>
            <a:ext cx="6583680" cy="39549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2075688"/>
            <a:ext cx="402336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rPr dirty="0"/>
              <a:t>South: ₹5.56 Cr sales | ₹2.33 Cr profit | 42.0%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28237"/>
            <a:ext cx="402336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rPr dirty="0"/>
              <a:t>Central: ₹3.72 Cr sales | ₹1.56 Cr profit | 41.9%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46728"/>
            <a:ext cx="402336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rPr dirty="0"/>
              <a:t>West: ₹3.48 Cr sales | ₹1.56 Cr profit | 45.0%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921048"/>
            <a:ext cx="402336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t>East: ₹2.71 Cr sales | ₹1.12 Cr profit | 41.3%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6976872"/>
            <a:ext cx="402336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t>North: ₹2.26 Cr sales | ₹1.04 Cr profit | 46.1%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06 /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Consumer is the engine of the portfolio</a:t>
            </a:r>
          </a:p>
        </p:txBody>
      </p:sp>
      <p:pic>
        <p:nvPicPr>
          <p:cNvPr id="5" name="Picture 4" descr="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03" y="1895302"/>
            <a:ext cx="6583680" cy="3435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828800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34BEDC"/>
                </a:solidFill>
                <a:latin typeface="Aptos"/>
              </a:defRPr>
            </a:pPr>
            <a:r>
              <a:t>Consumer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30552"/>
            <a:ext cx="4206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t>₹9.72 Cr sales  •  ₹4.28 Cr profit  •  44.1%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788920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34BEDC"/>
                </a:solidFill>
                <a:latin typeface="Aptos"/>
              </a:defRPr>
            </a:pPr>
            <a:r>
              <a:t>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090672"/>
            <a:ext cx="4206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t>₹4.43 Cr sales  •  ₹1.82 Cr profit  •  41.1%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49039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34BEDC"/>
                </a:solidFill>
                <a:latin typeface="Aptos"/>
              </a:defRPr>
            </a:pPr>
            <a:r>
              <a:t>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050791"/>
            <a:ext cx="4206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t>₹1.79 Cr sales  •  ₹0.74 Cr profit  •  41.1%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709159"/>
            <a:ext cx="1645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34BEDC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010912"/>
            <a:ext cx="4206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FAFCFF"/>
                </a:solidFill>
                <a:latin typeface="Aptos"/>
              </a:defRPr>
            </a:pPr>
            <a:r>
              <a:t>₹1.78 Cr sales  •  ₹0.78 Cr profit  •  43.8%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669280"/>
            <a:ext cx="4114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A5D74A"/>
                </a:solidFill>
                <a:latin typeface="Aptos"/>
              </a:defRPr>
            </a:pPr>
            <a:r>
              <a:t>Consumer alone accounts for 54.9% of total net sales.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07 / CUSTOMER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The top 10 customers are meaningful, high-value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Ranking in the notebook is based on total net sales; the output also includes profit, customer_order_count and CLV.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08760"/>
            <a:ext cx="1828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Net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08760"/>
            <a:ext cx="17373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Order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508760"/>
            <a:ext cx="2560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CLV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CUST-012869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₹30,268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74519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₹11,819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74519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225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874519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₹454,027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317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CUST-002969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3317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₹30,062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317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₹11,704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317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317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₹480,985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7889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CUST-017251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7889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₹29,375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889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₹10,563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7889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225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7889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₹440,630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461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CUST-000802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2461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₹28,503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2461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₹12,782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2461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2461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₹349,895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033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CUST-012608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7033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₹28,172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7033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₹13,994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7033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7033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₹366,238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1605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CUST-017828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605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₹28,093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1605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₹12,398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1605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1605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₹393,302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6177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CUST-006857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6177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₹26,835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6177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₹9,357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6177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6177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₹274,309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074920"/>
            <a:ext cx="20574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CUST-017523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0749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₹26,777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07492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₹12,663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5074920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074920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FAFCFF"/>
                </a:solidFill>
                <a:latin typeface="Aptos"/>
              </a:defRPr>
            </a:pPr>
            <a:r>
              <a:t>₹240,990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51206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A5D74A"/>
                </a:solidFill>
                <a:latin typeface="Aptos"/>
              </a:defRPr>
            </a:pPr>
            <a:r>
              <a:t>Top 10 sales = ₹2.8 lakh (0.16% of total sales)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806440"/>
            <a:ext cx="51206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A5D74A"/>
                </a:solidFill>
                <a:latin typeface="Aptos"/>
              </a:defRPr>
            </a:pPr>
            <a:r>
              <a:t>Top 10 profit = ₹1.2 lakh (0.15% of total profit)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08 / TIME &amp; 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Year-end demand is consistently stronger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Monthly net sales from 2021–2025.</a:t>
            </a:r>
          </a:p>
        </p:txBody>
      </p:sp>
      <p:pic>
        <p:nvPicPr>
          <p:cNvPr id="6" name="Picture 5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721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AFCFF"/>
                </a:solidFill>
                <a:latin typeface="Aptos"/>
              </a:defRPr>
            </a:pPr>
            <a:r>
              <a:t>Best month: 2021-12 at ₹49.01 lakh  |  Best full year: 2021 at ₹3.57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09 / PROFIT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1,296 rows are loss-making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The notebook defines loss-making rows as profit &lt;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283464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764792"/>
            <a:ext cx="250545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05C58"/>
                </a:solidFill>
                <a:latin typeface="Aptos"/>
              </a:defRPr>
            </a:pPr>
            <a:r>
              <a:t>1,296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13432"/>
            <a:ext cx="250545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Negative-profit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00200"/>
            <a:ext cx="283464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1" y="1764792"/>
            <a:ext cx="250545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05C58"/>
                </a:solidFill>
                <a:latin typeface="Aptos"/>
              </a:defRPr>
            </a:pPr>
            <a:r>
              <a:t>0.94%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1" y="2313432"/>
            <a:ext cx="250545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Share of all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600200"/>
            <a:ext cx="283464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1764792"/>
            <a:ext cx="250545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7B342"/>
                </a:solidFill>
                <a:latin typeface="Aptos"/>
              </a:defRPr>
            </a:pPr>
            <a:r>
              <a:t>46.30%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2313432"/>
            <a:ext cx="250545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Discount on one sample loss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Sample loss-making records show product_cost greater than net_sales in multiple cases.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Examples include ORD-773460: net sales ₹2,018.41 vs product cost ₹2,031.88 → profit −₹22.47.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ORD-828591 shows net sales ₹2,298.28 vs product cost ₹2,533.00 → profit −₹240.49.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ORD-613985 shows net sales ₹2,011.70 vs product cost ₹2,202.05 → profit −₹201.44.</a:t>
            </a:r>
          </a:p>
          <a:p>
            <a:pPr>
              <a:spcAft>
                <a:spcPts val="9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The notebook calculates discount_percentage = discount_amount / gross_sales × 100, but it does not yet quantify the overall discount–profit correlation.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10 / DISCOUNT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High discounting can coexist with negative profit — but correlation is not yet proven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The notebook calculates discount percentage and inspects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828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7432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30552"/>
            <a:ext cx="24140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7B342"/>
                </a:solidFill>
                <a:latin typeface="Aptos"/>
              </a:defRPr>
            </a:pPr>
            <a:r>
              <a:t>46.3%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79191"/>
            <a:ext cx="24140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Discount % — ORD-773460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965960"/>
            <a:ext cx="27432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2130552"/>
            <a:ext cx="24140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05C58"/>
                </a:solidFill>
                <a:latin typeface="Aptos"/>
              </a:defRPr>
            </a:pPr>
            <a:r>
              <a:t>−₹22.47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679191"/>
            <a:ext cx="24140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Profit — same 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965960"/>
            <a:ext cx="27432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1" y="2130552"/>
            <a:ext cx="24140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t>36.5%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679191"/>
            <a:ext cx="24140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Discount % — ORD-301242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965960"/>
            <a:ext cx="182880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57232" y="2130552"/>
            <a:ext cx="1499616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₹345.04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2679191"/>
            <a:ext cx="1499616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CB8C6"/>
                </a:solidFill>
                <a:latin typeface="Aptos"/>
              </a:defRPr>
            </a:pPr>
            <a:r>
              <a:t>Profit — same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The two examples demonstrate why discounting should be evaluated together with product cost and selling price.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A high discount does not automatically imply a loss, and a lower discount does not guarantee high profit.</a:t>
            </a:r>
          </a:p>
          <a:p>
            <a:pPr>
              <a:spcAft>
                <a:spcPts val="900"/>
              </a:spcAft>
              <a:defRPr sz="1500">
                <a:solidFill>
                  <a:srgbClr val="FAFCFF"/>
                </a:solidFill>
                <a:latin typeface="Aptos"/>
              </a:defRPr>
            </a:pPr>
            <a:r>
              <a:t>• Next analytical step: group discount_percentage into bands and compare average profit/margin, then calculate correlation.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4BEDC"/>
                </a:solidFill>
                <a:latin typeface="Aptos"/>
              </a:defRPr>
            </a:pPr>
            <a:r>
              <a:t>11 / BUSINESS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900" b="1">
                <a:solidFill>
                  <a:srgbClr val="FAFCFF"/>
                </a:solidFill>
                <a:latin typeface="Aptos"/>
              </a:defRPr>
            </a:pPr>
            <a:r>
              <a:t>Three actions that follow from the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0704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59436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F05C5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64792"/>
            <a:ext cx="3931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FAFCFF"/>
                </a:solidFill>
                <a:latin typeface="Aptos"/>
              </a:defRPr>
            </a:pPr>
            <a:r>
              <a:t>CONTROL MARGIN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64792"/>
            <a:ext cx="53949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Introduce a minimum margin guardrail for discounted transactions; flag orders where net_sales approaches or falls below product_cost.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060704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27832"/>
            <a:ext cx="59436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34BE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82112"/>
            <a:ext cx="3931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FAFCFF"/>
                </a:solidFill>
                <a:latin typeface="Aptos"/>
              </a:defRPr>
            </a:pPr>
            <a:r>
              <a:t>ACTIVATE PEAK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82112"/>
            <a:ext cx="53949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Use the recurring Nov–Dec sales uplift to pre-plan inventory, campaigns and fulfillment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10607040" cy="1234440"/>
          </a:xfrm>
          <a:prstGeom prst="roundRect">
            <a:avLst/>
          </a:prstGeom>
          <a:solidFill>
            <a:srgbClr val="1B283A"/>
          </a:solidFill>
          <a:ln>
            <a:solidFill>
              <a:srgbClr val="36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645152"/>
            <a:ext cx="59436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A5D7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599431"/>
            <a:ext cx="3931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FAFCFF"/>
                </a:solidFill>
                <a:latin typeface="Aptos"/>
              </a:defRPr>
            </a:pPr>
            <a:r>
              <a:t>PROTECT HIGH-VALUE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599431"/>
            <a:ext cx="53949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CB8C6"/>
                </a:solidFill>
                <a:latin typeface="Aptos"/>
              </a:defRPr>
            </a:pPr>
            <a:r>
              <a:t>Build retention and cross-sell programs around customers with high sales, profit and CLV.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34BEDC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875520" cy="1828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FAFCFF"/>
                </a:solidFill>
                <a:latin typeface="Aptos"/>
              </a:defRPr>
            </a:pPr>
            <a:r>
              <a:t>A profitable e-commerce portfolio</a:t>
            </a:r>
            <a:br/>
            <a:r>
              <a:t>with clear opportunities to improve</a:t>
            </a:r>
            <a:br/>
            <a:r>
              <a:t>margin discipline and customer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0"/>
            <a:ext cx="106984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CB8C6"/>
                </a:solidFill>
                <a:latin typeface="Aptos"/>
              </a:defRPr>
            </a:pPr>
            <a:r>
              <a:t>₹17.71 Cr sales   •   ₹7.61 Cr profit   •   43.0% aggregate margin   •   1,296 loss-making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82296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A5D74A"/>
                </a:solidFill>
                <a:latin typeface="Aptos"/>
              </a:defRPr>
            </a:pPr>
            <a:r>
              <a:t>Pandas + NumPy  |  Evidence → Insight →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4572000" cy="64633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AFCFF"/>
                </a:solidFill>
                <a:latin typeface="Aptos"/>
              </a:defRPr>
            </a:pPr>
            <a:r>
              <a:rPr lang="en-US" dirty="0"/>
              <a:t>Krish </a:t>
            </a:r>
            <a:r>
              <a:rPr dirty="0"/>
              <a:t>Bhatia</a:t>
            </a:r>
            <a:br>
              <a:rPr lang="en-US" dirty="0"/>
            </a:br>
            <a:r>
              <a:rPr lang="en-US" dirty="0">
                <a:hlinkClick r:id="rId2"/>
              </a:rPr>
              <a:t>Krishbhatia624@gmail.com</a:t>
            </a:r>
            <a:br>
              <a:rPr lang="en-US" dirty="0"/>
            </a:br>
            <a:r>
              <a:rPr lang="en-US" dirty="0"/>
              <a:t>+91-7657909464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900" b="1">
                <a:solidFill>
                  <a:srgbClr val="ACB8C6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1265</Words>
  <Application>Microsoft Office PowerPoint</Application>
  <PresentationFormat>Widescreen</PresentationFormat>
  <Paragraphs>199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Krish Bhatia</cp:lastModifiedBy>
  <cp:revision>2</cp:revision>
  <dcterms:created xsi:type="dcterms:W3CDTF">2013-01-27T09:14:16Z</dcterms:created>
  <dcterms:modified xsi:type="dcterms:W3CDTF">2026-09-14T16:33:21Z</dcterms:modified>
  <cp:category/>
</cp:coreProperties>
</file>